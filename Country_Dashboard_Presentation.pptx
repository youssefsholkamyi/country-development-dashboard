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3D2BA1C-8423-E8D4-AA39-A6367FE94707}">
          <p14:sldIdLst>
            <p14:sldId id="256"/>
            <p14:sldId id="257"/>
          </p14:sldIdLst>
        </p14:section>
        <p14:section name="Method" id="{F635A2B7-2252-A056-46A9-D6C762C870C5}">
          <p14:sldIdLst>
            <p14:sldId id="258"/>
            <p14:sldId id="259"/>
          </p14:sldIdLst>
        </p14:section>
        <p14:section name="Dashboard" id="{3E5DED63-A794-467F-A906-42CBC73820D4}">
          <p14:sldIdLst>
            <p14:sldId id="260"/>
            <p14:sldId id="261"/>
            <p14:sldId id="262"/>
            <p14:sldId id="263"/>
          </p14:sldIdLst>
        </p14:section>
        <p14:section name="Insights" id="{9D4C30FA-5240-4D9C-E42A-7F940D8544F6}">
          <p14:sldIdLst>
            <p14:sldId id="264"/>
            <p14:sldId id="265"/>
            <p14:sldId id="266"/>
            <p14:sldId id="267"/>
            <p14:sldId id="268"/>
          </p14:sldIdLst>
        </p14:section>
        <p14:section name="Recommendations" id="{1B175988-E139-0FEA-4A78-7F763CD29B1E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2E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B3D2E"/>
                </a:solidFill>
                <a:latin typeface="Calibri"/>
              </a:rPr>
              <a:t>Average life expectancy (years)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Life expectancy</c:v>
                </c:pt>
              </c:strCache>
            </c:strRef>
          </c:tx>
          <c:spPr>
            <a:solidFill>
              <a:srgbClr val="2ECC8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North America</c:v>
                </c:pt>
                <c:pt idx="1">
                  <c:v>Europe &amp; C. Asia</c:v>
                </c:pt>
                <c:pt idx="2">
                  <c:v>Middle East &amp; N. Africa</c:v>
                </c:pt>
                <c:pt idx="3">
                  <c:v>Latin America</c:v>
                </c:pt>
                <c:pt idx="4">
                  <c:v>East Asia &amp; Pacific</c:v>
                </c:pt>
                <c:pt idx="5">
                  <c:v>South Asia</c:v>
                </c:pt>
                <c:pt idx="6">
                  <c:v>Sub-Saharan Africa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78.760000000000005</c:v>
                </c:pt>
                <c:pt idx="1">
                  <c:v>75.02</c:v>
                </c:pt>
                <c:pt idx="2">
                  <c:v>73.02</c:v>
                </c:pt>
                <c:pt idx="3">
                  <c:v>72.94</c:v>
                </c:pt>
                <c:pt idx="4">
                  <c:v>71.150000000000006</c:v>
                </c:pt>
                <c:pt idx="5">
                  <c:v>60.47</c:v>
                </c:pt>
                <c:pt idx="6">
                  <c:v>49.79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9D-4C66-941A-EF4874E5C3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2E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B3D2E"/>
                </a:solidFill>
                <a:latin typeface="Calibri"/>
              </a:rPr>
              <a:t>Birth vs death rate (per 1,000)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Birth rate</c:v>
                </c:pt>
              </c:strCache>
            </c:strRef>
          </c:tx>
          <c:spPr>
            <a:solidFill>
              <a:srgbClr val="2ECC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Sub-Saharan Africa</c:v>
                </c:pt>
                <c:pt idx="1">
                  <c:v>South Asia</c:v>
                </c:pt>
                <c:pt idx="2">
                  <c:v>Middle East &amp; N. Africa</c:v>
                </c:pt>
                <c:pt idx="3">
                  <c:v>East Asia &amp; Pacific</c:v>
                </c:pt>
                <c:pt idx="4">
                  <c:v>Latin America</c:v>
                </c:pt>
                <c:pt idx="5">
                  <c:v>North America</c:v>
                </c:pt>
                <c:pt idx="6">
                  <c:v>Europe &amp; C. Asia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</c:v>
                </c:pt>
                <c:pt idx="1">
                  <c:v>31</c:v>
                </c:pt>
                <c:pt idx="2">
                  <c:v>25</c:v>
                </c:pt>
                <c:pt idx="3">
                  <c:v>20</c:v>
                </c:pt>
                <c:pt idx="4">
                  <c:v>19</c:v>
                </c:pt>
                <c:pt idx="5">
                  <c:v>13</c:v>
                </c:pt>
                <c:pt idx="6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31-4D58-8B2C-16888774CF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Death rate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Sub-Saharan Africa</c:v>
                </c:pt>
                <c:pt idx="1">
                  <c:v>South Asia</c:v>
                </c:pt>
                <c:pt idx="2">
                  <c:v>Middle East &amp; N. Africa</c:v>
                </c:pt>
                <c:pt idx="3">
                  <c:v>East Asia &amp; Pacific</c:v>
                </c:pt>
                <c:pt idx="4">
                  <c:v>Latin America</c:v>
                </c:pt>
                <c:pt idx="5">
                  <c:v>North America</c:v>
                </c:pt>
                <c:pt idx="6">
                  <c:v>Europe &amp; C. Asia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</c:v>
                </c:pt>
                <c:pt idx="1">
                  <c:v>10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31-4D58-8B2C-16888774CF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2E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B3D2E"/>
                </a:solidFill>
                <a:latin typeface="Calibri"/>
              </a:rPr>
              <a:t>Countries by growth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Countries</c:v>
                </c:pt>
              </c:strCache>
            </c:strRef>
          </c:tx>
          <c:spPr>
            <a:solidFill>
              <a:srgbClr val="2ECC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7E8-491A-8F28-0961E2C75DE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7E8-491A-8F28-0961E2C75DE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7E8-491A-8F28-0961E2C75DE0}"/>
              </c:ext>
            </c:extLst>
          </c:dPt>
          <c:dPt>
            <c:idx val="3"/>
            <c:invertIfNegative val="0"/>
            <c:bubble3D val="0"/>
            <c:spPr>
              <a:solidFill>
                <a:srgbClr val="B7C4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7E8-491A-8F28-0961E2C75DE0}"/>
              </c:ext>
            </c:extLst>
          </c:dPt>
          <c:dPt>
            <c:idx val="4"/>
            <c:invertIfNegative val="0"/>
            <c:bubble3D val="0"/>
            <c:spPr>
              <a:solidFill>
                <a:srgbClr val="C4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7E8-491A-8F28-0961E2C75DE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Moderate</c:v>
                </c:pt>
                <c:pt idx="1">
                  <c:v>Slow</c:v>
                </c:pt>
                <c:pt idx="2">
                  <c:v>High</c:v>
                </c:pt>
                <c:pt idx="3">
                  <c:v>No Data</c:v>
                </c:pt>
                <c:pt idx="4">
                  <c:v>Contracting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61</c:v>
                </c:pt>
                <c:pt idx="2">
                  <c:v>56</c:v>
                </c:pt>
                <c:pt idx="3">
                  <c:v>27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7E8-491A-8F28-0961E2C75D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D2E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B3D2E"/>
                </a:solidFill>
                <a:latin typeface="Calibri"/>
              </a:rPr>
              <a:t>Average inflation rate by region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Inflation</c:v>
                </c:pt>
              </c:strCache>
            </c:strRef>
          </c:tx>
          <c:spPr>
            <a:solidFill>
              <a:srgbClr val="C4454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3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Sub-Saharan Africa</c:v>
                </c:pt>
                <c:pt idx="1">
                  <c:v>Latin America</c:v>
                </c:pt>
                <c:pt idx="2">
                  <c:v>Middle East &amp; N. Africa</c:v>
                </c:pt>
                <c:pt idx="3">
                  <c:v>South Asia</c:v>
                </c:pt>
                <c:pt idx="4">
                  <c:v>Europe &amp; C. Asia</c:v>
                </c:pt>
                <c:pt idx="5">
                  <c:v>East Asia &amp; Pacific</c:v>
                </c:pt>
                <c:pt idx="6">
                  <c:v>North America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10.1</c:v>
                </c:pt>
                <c:pt idx="1">
                  <c:v>6.27</c:v>
                </c:pt>
                <c:pt idx="2">
                  <c:v>4.91</c:v>
                </c:pt>
                <c:pt idx="3">
                  <c:v>4.75</c:v>
                </c:pt>
                <c:pt idx="4">
                  <c:v>4.2</c:v>
                </c:pt>
                <c:pt idx="5">
                  <c:v>3.69</c:v>
                </c:pt>
                <c:pt idx="6">
                  <c:v>2.17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7B-4015-A40E-61A1A0E503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649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centralized dashboard to monitor and compare development indicators across countries and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five management needs from the brief and link them to the dashboard pages.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Power Query steps. Adjust wording to match the exact steps in your Applied Steps pane.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values are read from the Executive Overview page. Make sure the Highest GDP and Lowest Inflation cards show country names in the final .pbix.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1. Fix the Regional Development Comparison visual so it shows all regions before taking final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2. Birth vs death rates, life expectancy comparison, infant mortality table and GDP vs life expectancy scatter.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3. Includes the Population Category slicer and Clear all slicers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Retake these two screenshots after fixing the Country filter so the KPIs and tooltip show the selected country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from the Health Care Analysis page (table and Life Expectancy Comparison chart).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Thresholds are approximate readings from the scatter plot, not calculated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read from the Birth Rate vs Death Rate chart on the Health Care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from the Economic Growth Indicators chart on the Economic Analysis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averages from the Economic Analysis table; country figures from the Inflation Analysis and Performing Countries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links back to an insight: 1 to Insight 1 and 2, 2 to Insight 5, 3 to Insights 4 and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 Development &amp; Economic Performance Analysis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 3 — Interactive Power BI Dashboard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Business Intelligence Analyst  |  Dataset: Country Data Comparison</a:t>
            </a:r>
            <a:endParaRPr lang="en-US" sz="1400" dirty="0"/>
          </a:p>
        </p:txBody>
      </p:sp>
      <p:sp>
        <p:nvSpPr>
          <p:cNvPr id="5" name="stat-card-0"/>
          <p:cNvSpPr/>
          <p:nvPr/>
        </p:nvSpPr>
        <p:spPr>
          <a:xfrm>
            <a:off x="548640" y="3566160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14584A"/>
          </a:solidFill>
          <a:ln w="12700">
            <a:solidFill>
              <a:srgbClr val="145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analysed</a:t>
            </a:r>
            <a:endParaRPr lang="en-US" sz="1200" dirty="0"/>
          </a:p>
        </p:txBody>
      </p:sp>
      <p:sp>
        <p:nvSpPr>
          <p:cNvPr id="8" name="stat-card-1"/>
          <p:cNvSpPr/>
          <p:nvPr/>
        </p:nvSpPr>
        <p:spPr>
          <a:xfrm>
            <a:off x="2834640" y="3566160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14584A"/>
          </a:solidFill>
          <a:ln w="12700">
            <a:solidFill>
              <a:srgbClr val="145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8346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regions</a:t>
            </a:r>
            <a:endParaRPr lang="en-US" sz="1200" dirty="0"/>
          </a:p>
        </p:txBody>
      </p:sp>
      <p:sp>
        <p:nvSpPr>
          <p:cNvPr id="11" name="stat-card-2"/>
          <p:cNvSpPr/>
          <p:nvPr/>
        </p:nvSpPr>
        <p:spPr>
          <a:xfrm>
            <a:off x="5120640" y="3566160"/>
            <a:ext cx="2011680" cy="1005840"/>
          </a:xfrm>
          <a:prstGeom prst="roundRect">
            <a:avLst>
              <a:gd name="adj" fmla="val 10909"/>
            </a:avLst>
          </a:prstGeom>
          <a:solidFill>
            <a:srgbClr val="14584A"/>
          </a:solidFill>
          <a:ln w="12700">
            <a:solidFill>
              <a:srgbClr val="1458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1206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C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pages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scenario and objectives</a:t>
            </a:r>
            <a:endParaRPr lang="en-US" sz="2600" dirty="0"/>
          </a:p>
        </p:txBody>
      </p:sp>
      <p:sp>
        <p:nvSpPr>
          <p:cNvPr id="3" name="obj-card-0"/>
          <p:cNvSpPr/>
          <p:nvPr/>
        </p:nvSpPr>
        <p:spPr>
          <a:xfrm>
            <a:off x="457200" y="1188720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bj-num-0"/>
          <p:cNvSpPr/>
          <p:nvPr/>
        </p:nvSpPr>
        <p:spPr>
          <a:xfrm>
            <a:off x="566928" y="1261872"/>
            <a:ext cx="384048" cy="384048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66928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economic performance between countries</a:t>
            </a:r>
            <a:endParaRPr lang="en-US" sz="1400" dirty="0"/>
          </a:p>
        </p:txBody>
      </p:sp>
      <p:sp>
        <p:nvSpPr>
          <p:cNvPr id="7" name="obj-card-1"/>
          <p:cNvSpPr/>
          <p:nvPr/>
        </p:nvSpPr>
        <p:spPr>
          <a:xfrm>
            <a:off x="457200" y="1847088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bj-num-1"/>
          <p:cNvSpPr/>
          <p:nvPr/>
        </p:nvSpPr>
        <p:spPr>
          <a:xfrm>
            <a:off x="566928" y="1920240"/>
            <a:ext cx="384048" cy="384048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847088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development indicators</a:t>
            </a:r>
            <a:endParaRPr lang="en-US" sz="1400" dirty="0"/>
          </a:p>
        </p:txBody>
      </p:sp>
      <p:sp>
        <p:nvSpPr>
          <p:cNvPr id="11" name="obj-card-2"/>
          <p:cNvSpPr/>
          <p:nvPr/>
        </p:nvSpPr>
        <p:spPr>
          <a:xfrm>
            <a:off x="457200" y="2505456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bj-num-2"/>
          <p:cNvSpPr/>
          <p:nvPr/>
        </p:nvSpPr>
        <p:spPr>
          <a:xfrm>
            <a:off x="566928" y="2578608"/>
            <a:ext cx="384048" cy="384048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6692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05456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high-growth and low-growth regions</a:t>
            </a:r>
            <a:endParaRPr lang="en-US" sz="1400" dirty="0"/>
          </a:p>
        </p:txBody>
      </p:sp>
      <p:sp>
        <p:nvSpPr>
          <p:cNvPr id="15" name="obj-card-3"/>
          <p:cNvSpPr/>
          <p:nvPr/>
        </p:nvSpPr>
        <p:spPr>
          <a:xfrm>
            <a:off x="457200" y="3163824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obj-num-3"/>
          <p:cNvSpPr/>
          <p:nvPr/>
        </p:nvSpPr>
        <p:spPr>
          <a:xfrm>
            <a:off x="566928" y="3236976"/>
            <a:ext cx="384048" cy="384048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66928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163824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health, population and economic factors</a:t>
            </a:r>
            <a:endParaRPr lang="en-US" sz="1400" dirty="0"/>
          </a:p>
        </p:txBody>
      </p:sp>
      <p:sp>
        <p:nvSpPr>
          <p:cNvPr id="19" name="obj-card-4"/>
          <p:cNvSpPr/>
          <p:nvPr/>
        </p:nvSpPr>
        <p:spPr>
          <a:xfrm>
            <a:off x="457200" y="3822192"/>
            <a:ext cx="5120640" cy="530352"/>
          </a:xfrm>
          <a:prstGeom prst="roundRect">
            <a:avLst>
              <a:gd name="adj" fmla="val 17241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bj-num-4"/>
          <p:cNvSpPr/>
          <p:nvPr/>
        </p:nvSpPr>
        <p:spPr>
          <a:xfrm>
            <a:off x="566928" y="3895344"/>
            <a:ext cx="384048" cy="384048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66928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382219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policy and investment decisions</a:t>
            </a:r>
            <a:endParaRPr lang="en-US" sz="1400" dirty="0"/>
          </a:p>
        </p:txBody>
      </p:sp>
      <p:sp>
        <p:nvSpPr>
          <p:cNvPr id="23" name="audience-card"/>
          <p:cNvSpPr/>
          <p:nvPr/>
        </p:nvSpPr>
        <p:spPr>
          <a:xfrm>
            <a:off x="5943600" y="1188720"/>
            <a:ext cx="2743200" cy="3163824"/>
          </a:xfrm>
          <a:prstGeom prst="roundRect">
            <a:avLst>
              <a:gd name="adj" fmla="val 4000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12648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for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126480" y="17830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management at an international economic research organization who need one interactive report instead of scattered spreadsheets.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in Power Query</a:t>
            </a:r>
            <a:endParaRPr lang="en-US" sz="2600" dirty="0"/>
          </a:p>
        </p:txBody>
      </p:sp>
      <p:sp>
        <p:nvSpPr>
          <p:cNvPr id="3" name="step-card-0"/>
          <p:cNvSpPr/>
          <p:nvPr/>
        </p:nvSpPr>
        <p:spPr>
          <a:xfrm>
            <a:off x="457200" y="1371600"/>
            <a:ext cx="1554480" cy="28346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ep-num-0"/>
          <p:cNvSpPr/>
          <p:nvPr/>
        </p:nvSpPr>
        <p:spPr>
          <a:xfrm>
            <a:off x="1005840" y="1508760"/>
            <a:ext cx="457200" cy="457200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058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514600"/>
            <a:ext cx="1335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Data Comparison.csv loaded into Power BI</a:t>
            </a:r>
            <a:endParaRPr lang="en-US" sz="1200" dirty="0"/>
          </a:p>
        </p:txBody>
      </p:sp>
      <p:sp>
        <p:nvSpPr>
          <p:cNvPr id="8" name="step-card-1"/>
          <p:cNvSpPr/>
          <p:nvPr/>
        </p:nvSpPr>
        <p:spPr>
          <a:xfrm>
            <a:off x="2121408" y="1371600"/>
            <a:ext cx="1554480" cy="28346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ep-num-1"/>
          <p:cNvSpPr/>
          <p:nvPr/>
        </p:nvSpPr>
        <p:spPr>
          <a:xfrm>
            <a:off x="2670048" y="1508760"/>
            <a:ext cx="457200" cy="457200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67004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12848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31136" y="2514600"/>
            <a:ext cx="1335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handle missing values, fix data types</a:t>
            </a:r>
            <a:endParaRPr lang="en-US" sz="1200" dirty="0"/>
          </a:p>
        </p:txBody>
      </p:sp>
      <p:sp>
        <p:nvSpPr>
          <p:cNvPr id="13" name="step-card-2"/>
          <p:cNvSpPr/>
          <p:nvPr/>
        </p:nvSpPr>
        <p:spPr>
          <a:xfrm>
            <a:off x="3785616" y="1371600"/>
            <a:ext cx="1554480" cy="28346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-num-2"/>
          <p:cNvSpPr/>
          <p:nvPr/>
        </p:nvSpPr>
        <p:spPr>
          <a:xfrm>
            <a:off x="4334256" y="1508760"/>
            <a:ext cx="457200" cy="457200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334256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77056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2514600"/>
            <a:ext cx="1335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columns, unify country and region names, drop unused columns</a:t>
            </a:r>
            <a:endParaRPr lang="en-US" sz="1200" dirty="0"/>
          </a:p>
        </p:txBody>
      </p:sp>
      <p:sp>
        <p:nvSpPr>
          <p:cNvPr id="18" name="step-card-3"/>
          <p:cNvSpPr/>
          <p:nvPr/>
        </p:nvSpPr>
        <p:spPr>
          <a:xfrm>
            <a:off x="5449824" y="1371600"/>
            <a:ext cx="1554480" cy="28346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ep-num-3"/>
          <p:cNvSpPr/>
          <p:nvPr/>
        </p:nvSpPr>
        <p:spPr>
          <a:xfrm>
            <a:off x="5998464" y="1508760"/>
            <a:ext cx="457200" cy="457200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998464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541264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59552" y="2514600"/>
            <a:ext cx="1335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Category, Population Category, Development Level, Growth Indicator Category</a:t>
            </a:r>
            <a:endParaRPr lang="en-US" sz="1200" dirty="0"/>
          </a:p>
        </p:txBody>
      </p:sp>
      <p:sp>
        <p:nvSpPr>
          <p:cNvPr id="23" name="step-card-4"/>
          <p:cNvSpPr/>
          <p:nvPr/>
        </p:nvSpPr>
        <p:spPr>
          <a:xfrm>
            <a:off x="7114032" y="1371600"/>
            <a:ext cx="1554480" cy="283464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ep-num-4"/>
          <p:cNvSpPr/>
          <p:nvPr/>
        </p:nvSpPr>
        <p:spPr>
          <a:xfrm>
            <a:off x="7662672" y="1508760"/>
            <a:ext cx="457200" cy="457200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662672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05472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2514600"/>
            <a:ext cx="13350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→ Country hierarchy, map-ready geography fields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and DAX measures</a:t>
            </a:r>
            <a:endParaRPr lang="en-US" sz="2600" dirty="0"/>
          </a:p>
        </p:txBody>
      </p:sp>
      <p:sp>
        <p:nvSpPr>
          <p:cNvPr id="3" name="kpi-card-0"/>
          <p:cNvSpPr/>
          <p:nvPr/>
        </p:nvSpPr>
        <p:spPr>
          <a:xfrm>
            <a:off x="457200" y="118872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8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243bn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30352" y="196596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GDP</a:t>
            </a:r>
            <a:endParaRPr lang="en-US" sz="1200" dirty="0"/>
          </a:p>
        </p:txBody>
      </p:sp>
      <p:sp>
        <p:nvSpPr>
          <p:cNvPr id="6" name="kpi-card-1"/>
          <p:cNvSpPr/>
          <p:nvPr/>
        </p:nvSpPr>
        <p:spPr>
          <a:xfrm>
            <a:off x="1965960" y="118872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96596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8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67.65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039112" y="196596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life expectancy</a:t>
            </a:r>
            <a:endParaRPr lang="en-US" sz="1200" dirty="0"/>
          </a:p>
        </p:txBody>
      </p:sp>
      <p:sp>
        <p:nvSpPr>
          <p:cNvPr id="9" name="kpi-card-2"/>
          <p:cNvSpPr/>
          <p:nvPr/>
        </p:nvSpPr>
        <p:spPr>
          <a:xfrm>
            <a:off x="3474720" y="118872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47472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8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6bn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196596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population</a:t>
            </a:r>
            <a:endParaRPr lang="en-US" sz="1200" dirty="0"/>
          </a:p>
        </p:txBody>
      </p:sp>
      <p:sp>
        <p:nvSpPr>
          <p:cNvPr id="12" name="kpi-card-3"/>
          <p:cNvSpPr/>
          <p:nvPr/>
        </p:nvSpPr>
        <p:spPr>
          <a:xfrm>
            <a:off x="457200" y="27432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720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8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11.8T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" y="3520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GDP (United States)</a:t>
            </a:r>
            <a:endParaRPr lang="en-US" sz="1200" dirty="0"/>
          </a:p>
        </p:txBody>
      </p:sp>
      <p:sp>
        <p:nvSpPr>
          <p:cNvPr id="15" name="kpi-card-4"/>
          <p:cNvSpPr/>
          <p:nvPr/>
        </p:nvSpPr>
        <p:spPr>
          <a:xfrm>
            <a:off x="1965960" y="274320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196596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8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-3.60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029968" y="3520440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inflation</a:t>
            </a:r>
            <a:b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(Nauru)</a:t>
            </a:r>
            <a:endParaRPr lang="en-US" sz="1200" dirty="0"/>
          </a:p>
        </p:txBody>
      </p:sp>
      <p:sp>
        <p:nvSpPr>
          <p:cNvPr id="18" name="dax-card"/>
          <p:cNvSpPr/>
          <p:nvPr/>
        </p:nvSpPr>
        <p:spPr>
          <a:xfrm>
            <a:off x="5120640" y="118872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349240" y="12984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C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toolkit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173736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AVERAGE, DIVIDE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with FILTER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RANKX for country ranking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for Trade Balance (Surplus / Deficit)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titles with SELECTEDVALUE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Overview: the global picture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1887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KPI cards: GDP, life expectancy, population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and table show population spread and life expectancy ranking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Country and GDP Category slicers with Clear all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DF52FB-368F-046F-E765-3431E534C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394960" cy="30377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Care: where development lags</a:t>
            </a:r>
            <a:endParaRPr lang="en-US" sz="2600" dirty="0"/>
          </a:p>
        </p:txBody>
      </p:sp>
      <p:sp>
        <p:nvSpPr>
          <p:cNvPr id="3" name="shot-frame"/>
          <p:cNvSpPr/>
          <p:nvPr/>
        </p:nvSpPr>
        <p:spPr>
          <a:xfrm>
            <a:off x="457200" y="1188720"/>
            <a:ext cx="5394960" cy="303770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Health Care: where development la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394960" cy="30377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1887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expectancy runs from 49.8 to 78.8 years by region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plot: life expectancy flattens as GDP per capita rises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Infant mortality bars highlight the weakest regions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Economics: growth, inflation and trade</a:t>
            </a:r>
            <a:endParaRPr lang="en-US" sz="2600" dirty="0"/>
          </a:p>
        </p:txBody>
      </p:sp>
      <p:sp>
        <p:nvSpPr>
          <p:cNvPr id="3" name="shot-frame"/>
          <p:cNvSpPr/>
          <p:nvPr/>
        </p:nvSpPr>
        <p:spPr>
          <a:xfrm>
            <a:off x="457200" y="1188720"/>
            <a:ext cx="5394960" cy="303770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Economics: growth, inflation and tra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394960" cy="30377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188720"/>
            <a:ext cx="2560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categories and top / bottom 5 performers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hotspots such as Zimbabwe (133%)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table with Trade Balance Indicator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Drill-through and tooltip pages</a:t>
            </a:r>
            <a:endParaRPr lang="en-US" sz="2600" dirty="0"/>
          </a:p>
        </p:txBody>
      </p:sp>
      <p:sp>
        <p:nvSpPr>
          <p:cNvPr id="3" name="drill-frame"/>
          <p:cNvSpPr/>
          <p:nvPr/>
        </p:nvSpPr>
        <p:spPr>
          <a:xfrm>
            <a:off x="457200" y="1188720"/>
            <a:ext cx="4389120" cy="247135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Country Profile drill-through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389120" cy="2471351"/>
          </a:xfrm>
          <a:prstGeom prst="rect">
            <a:avLst/>
          </a:prstGeom>
        </p:spPr>
      </p:pic>
      <p:sp>
        <p:nvSpPr>
          <p:cNvPr id="5" name="tip-frame"/>
          <p:cNvSpPr/>
          <p:nvPr/>
        </p:nvSpPr>
        <p:spPr>
          <a:xfrm>
            <a:off x="5212080" y="1188720"/>
            <a:ext cx="3243649" cy="247135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Tooltip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188720"/>
            <a:ext cx="3243649" cy="24713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797231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Drill-through: Country Profile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117271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 country to open its KPIs and birth vs death rate.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212080" y="3797231"/>
            <a:ext cx="32436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Tooltip: Exports vs Imports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212080" y="4117271"/>
            <a:ext cx="32436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a country to see its trade balance.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1: a 29-year life expectancy gap</a:t>
            </a:r>
            <a:endParaRPr lang="en-US" sz="2600" dirty="0"/>
          </a:p>
        </p:txBody>
      </p:sp>
      <p:sp>
        <p:nvSpPr>
          <p:cNvPr id="3" name="left-card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4572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887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averages 78.8 years, Sub-Saharan Africa only 49.8. Infant mortality shows the same split: 81.2 vs 6.3.</a:t>
            </a:r>
            <a:endParaRPr lang="en-US" sz="1400" dirty="0"/>
          </a:p>
        </p:txBody>
      </p:sp>
      <p:sp>
        <p:nvSpPr>
          <p:cNvPr id="6" name="sowhat-card"/>
          <p:cNvSpPr/>
          <p:nvPr/>
        </p:nvSpPr>
        <p:spPr>
          <a:xfrm>
            <a:off x="5486400" y="292608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outcomes separate regions sharply. South Asia (60.5) is the next weakest.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2: income lifts health, then levels off</a:t>
            </a:r>
            <a:endParaRPr lang="en-US" sz="2600" dirty="0"/>
          </a:p>
        </p:txBody>
      </p:sp>
      <p:sp>
        <p:nvSpPr>
          <p:cNvPr id="3" name="left-card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at-row-0"/>
          <p:cNvSpPr/>
          <p:nvPr/>
        </p:nvSpPr>
        <p:spPr>
          <a:xfrm>
            <a:off x="640080" y="1371600"/>
            <a:ext cx="4389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8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$10K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371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capita: life expectancy varies widely, about 40 to 75 years</a:t>
            </a:r>
            <a:endParaRPr lang="en-US" sz="1200" dirty="0"/>
          </a:p>
        </p:txBody>
      </p:sp>
      <p:sp>
        <p:nvSpPr>
          <p:cNvPr id="7" name="stat-row-1"/>
          <p:cNvSpPr/>
          <p:nvPr/>
        </p:nvSpPr>
        <p:spPr>
          <a:xfrm>
            <a:off x="640080" y="2395728"/>
            <a:ext cx="4389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39572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8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$10–20K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395728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 bends sharply upward</a:t>
            </a:r>
            <a:endParaRPr lang="en-US" sz="1200" dirty="0"/>
          </a:p>
        </p:txBody>
      </p:sp>
      <p:sp>
        <p:nvSpPr>
          <p:cNvPr id="10" name="stat-row-2"/>
          <p:cNvSpPr/>
          <p:nvPr/>
        </p:nvSpPr>
        <p:spPr>
          <a:xfrm>
            <a:off x="640080" y="3419856"/>
            <a:ext cx="438912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3419856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8F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 yrs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419856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 for countries above roughly $30K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11887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GDP vs life expectancy scatter, life expectancy rises steeply at low income and flattens near 80 years at higher income.</a:t>
            </a:r>
            <a:endParaRPr lang="en-US" sz="1400" dirty="0"/>
          </a:p>
        </p:txBody>
      </p:sp>
      <p:sp>
        <p:nvSpPr>
          <p:cNvPr id="14" name="sowhat-card"/>
          <p:cNvSpPr/>
          <p:nvPr/>
        </p:nvSpPr>
        <p:spPr>
          <a:xfrm>
            <a:off x="5486400" y="292608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62356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income matters most in poorer countries, so targeted health spending has the highest return there.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3: population growth is concentrated</a:t>
            </a:r>
            <a:endParaRPr lang="en-US" sz="2600" dirty="0"/>
          </a:p>
        </p:txBody>
      </p:sp>
      <p:sp>
        <p:nvSpPr>
          <p:cNvPr id="3" name="left-card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4572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887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has 36 births vs 16 deaths per 1,000 people. Europe &amp; Central Asia is almost balanced at 12 vs 10.</a:t>
            </a:r>
            <a:endParaRPr lang="en-US" sz="1400" dirty="0"/>
          </a:p>
        </p:txBody>
      </p:sp>
      <p:sp>
        <p:nvSpPr>
          <p:cNvPr id="6" name="sowhat-card"/>
          <p:cNvSpPr/>
          <p:nvPr/>
        </p:nvSpPr>
        <p:spPr>
          <a:xfrm>
            <a:off x="5486400" y="292608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Fast-growing regions need schools, jobs and health capacity. Ageing regions need productivity and workforce policy.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4: growth is broad, few economies shrink</a:t>
            </a:r>
            <a:endParaRPr lang="en-US" sz="2600" dirty="0"/>
          </a:p>
        </p:txBody>
      </p:sp>
      <p:sp>
        <p:nvSpPr>
          <p:cNvPr id="3" name="left-card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4572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887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238 countries, 141 show moderate or high growth. Only 9 are contracting and 27 have no growth data.</a:t>
            </a:r>
            <a:endParaRPr lang="en-US" sz="1400" dirty="0"/>
          </a:p>
        </p:txBody>
      </p:sp>
      <p:sp>
        <p:nvSpPr>
          <p:cNvPr id="6" name="sowhat-card"/>
          <p:cNvSpPr/>
          <p:nvPr/>
        </p:nvSpPr>
        <p:spPr>
          <a:xfrm>
            <a:off x="5486400" y="292608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is positive overall, but the 27 countries with no data are a blind spot for monitoring.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 5: high inflation signals instability</a:t>
            </a:r>
            <a:endParaRPr lang="en-US" sz="2600" dirty="0"/>
          </a:p>
        </p:txBody>
      </p:sp>
      <p:sp>
        <p:nvSpPr>
          <p:cNvPr id="3" name="left-card"/>
          <p:cNvSpPr/>
          <p:nvPr/>
        </p:nvSpPr>
        <p:spPr>
          <a:xfrm>
            <a:off x="457200" y="1188720"/>
            <a:ext cx="4754880" cy="3291840"/>
          </a:xfrm>
          <a:prstGeom prst="roundRect">
            <a:avLst>
              <a:gd name="adj" fmla="val 277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45720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188720"/>
            <a:ext cx="3200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averages 10.1% inflation, over four times North America at 2.2%. Zimbabwe pairs 133% inflation with -8.2% growth.</a:t>
            </a:r>
            <a:endParaRPr lang="en-US" sz="1400" dirty="0"/>
          </a:p>
        </p:txBody>
      </p:sp>
      <p:sp>
        <p:nvSpPr>
          <p:cNvPr id="6" name="sowhat-card"/>
          <p:cNvSpPr/>
          <p:nvPr/>
        </p:nvSpPr>
        <p:spPr>
          <a:xfrm>
            <a:off x="5486400" y="292608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623560" y="30175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EC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and output often move badly together. Iraq shows 52% growth alongside 25% inflation, so growth alone is not safety.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600" dirty="0"/>
          </a:p>
        </p:txBody>
      </p:sp>
      <p:sp>
        <p:nvSpPr>
          <p:cNvPr id="3" name="rec-card-0"/>
          <p:cNvSpPr/>
          <p:nvPr/>
        </p:nvSpPr>
        <p:spPr>
          <a:xfrm>
            <a:off x="45720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-num-0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health investment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146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primary care and infant-mortality programs in Sub-Saharan Africa and South Asia, where life expectancy is below 61 years.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life expectancy, infant mortality</a:t>
            </a:r>
            <a:endParaRPr lang="en-US" sz="1200" dirty="0"/>
          </a:p>
        </p:txBody>
      </p:sp>
      <p:sp>
        <p:nvSpPr>
          <p:cNvPr id="9" name="rec-card-1"/>
          <p:cNvSpPr/>
          <p:nvPr/>
        </p:nvSpPr>
        <p:spPr>
          <a:xfrm>
            <a:off x="329184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-num-1"/>
          <p:cNvSpPr/>
          <p:nvPr/>
        </p:nvSpPr>
        <p:spPr>
          <a:xfrm>
            <a:off x="3474720" y="1325880"/>
            <a:ext cx="457200" cy="457200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747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Stabilize high-inflation economies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5146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macroeconomic support and monitoring to countries above 20% inflation, such as Zimbabwe, Angola and Suriname.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inflation, GDP growth</a:t>
            </a:r>
            <a:endParaRPr lang="en-US" sz="1200" dirty="0"/>
          </a:p>
        </p:txBody>
      </p:sp>
      <p:sp>
        <p:nvSpPr>
          <p:cNvPr id="15" name="rec-card-2"/>
          <p:cNvSpPr/>
          <p:nvPr/>
        </p:nvSpPr>
        <p:spPr>
          <a:xfrm>
            <a:off x="6126480" y="11887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-num-2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rgbClr val="2ECC8F"/>
          </a:solidFill>
          <a:ln w="12700">
            <a:solidFill>
              <a:srgbClr val="2EC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093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874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with a risk-adjusted lens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5146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opportunities on growth, inflation and trade balance together. East Asia &amp; Pacific pairs 4.5% growth with 3.7% inflation and a surplus.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0233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B8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growth category, trade balance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and income gaps between regions remain large. Sub-Saharan Africa and South Asia lag most.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widespread, but inflation and missing data weaken the picture in some places.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lets decision-makers filter, compare and drill into any country.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C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untry Dev Green">
  <a:themeElements>
    <a:clrScheme name="Country Dev Green">
      <a:dk1>
        <a:srgbClr val="1F2933"/>
      </a:dk1>
      <a:lt1>
        <a:srgbClr val="FFFFFF"/>
      </a:lt1>
      <a:dk2>
        <a:srgbClr val="0B3D2E"/>
      </a:dk2>
      <a:lt2>
        <a:srgbClr val="E8F5EE"/>
      </a:lt2>
      <a:accent1>
        <a:srgbClr val="2ECC8F"/>
      </a:accent1>
      <a:accent2>
        <a:srgbClr val="0B3D2E"/>
      </a:accent2>
      <a:accent3>
        <a:srgbClr val="C44545"/>
      </a:accent3>
      <a:accent4>
        <a:srgbClr val="F2A541"/>
      </a:accent4>
      <a:accent5>
        <a:srgbClr val="1B8F63"/>
      </a:accent5>
      <a:accent6>
        <a:srgbClr val="6B7280"/>
      </a:accent6>
      <a:hlink>
        <a:srgbClr val="1B8F63"/>
      </a:hlink>
      <a:folHlink>
        <a:srgbClr val="6B7280"/>
      </a:folHlink>
    </a:clrScheme>
    <a:fontScheme name="Country Dev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1111</Words>
  <Application>Microsoft Office PowerPoint</Application>
  <PresentationFormat>On-screen Show (16:9)</PresentationFormat>
  <Paragraphs>162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Country Dev Green</vt:lpstr>
      <vt:lpstr>Country Development &amp; Economic Performance Analysis</vt:lpstr>
      <vt:lpstr>Business scenario and objectives</vt:lpstr>
      <vt:lpstr>Data preparation in Power Query</vt:lpstr>
      <vt:lpstr>KPIs and DAX measures</vt:lpstr>
      <vt:lpstr>Executive Overview: the global picture</vt:lpstr>
      <vt:lpstr>Health Care: where development lags</vt:lpstr>
      <vt:lpstr>Economics: growth, inflation and trade</vt:lpstr>
      <vt:lpstr>Drill-through and tooltip pages</vt:lpstr>
      <vt:lpstr>Insight 1: a 29-year life expectancy gap</vt:lpstr>
      <vt:lpstr>Insight 2: income lifts health, then levels off</vt:lpstr>
      <vt:lpstr>Insight 3: population growth is concentrated</vt:lpstr>
      <vt:lpstr>Insight 4: growth is broad, few economies shrink</vt:lpstr>
      <vt:lpstr>Insight 5: high inflation signals instability</vt:lpstr>
      <vt:lpstr>Strategic recommendations</vt:lpstr>
      <vt:lpstr>Key takeaways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Country Development &amp; Economic Performance Analysis</dc:title>
  <dc:subject>PptxGenJS Presentation</dc:subject>
  <dc:creator>PptxGenJS</dc:creator>
  <cp:lastModifiedBy>Youssef Sholkamyi</cp:lastModifiedBy>
  <cp:revision>3</cp:revision>
  <dcterms:created xsi:type="dcterms:W3CDTF">2026-10-22T15:35:36Z</dcterms:created>
  <dcterms:modified xsi:type="dcterms:W3CDTF">2026-10-24T01:37:44Z</dcterms:modified>
</cp:coreProperties>
</file>